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9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Tevekkel Yedek Parça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461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Calibri"/>
              </a:rPr>
              <a:t>Logo tasarımları · 5 farklı tasarım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Anlamlar, renk kodları ve tipografi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2294D"/>
                </a:solidFill>
                <a:latin typeface="Cambria"/>
              </a:rPr>
              <a:t>Marka özeti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6692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1978'den beri Düzce merkezli otomotiv yedek parça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Binek, ticari, ağır vasıta ve lastik ürün grupları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Bayilere yönelik B2B sipariş sistemi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Slogan: “Otomotivde Güvenin Adresi”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TASARIM HEDEFLERİ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Güven · hızlı tedarik · sektör netliği · küçük boyutta okunurluk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6304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463040"/>
            <a:ext cx="21945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>
                <a:solidFill>
                  <a:srgbClr val="12294D"/>
                </a:solidFill>
                <a:latin typeface="Cambria"/>
              </a:rPr>
              <a:t>1978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463040"/>
            <a:ext cx="2103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Kuruluş yılı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06324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3063240"/>
            <a:ext cx="21945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>
                <a:solidFill>
                  <a:srgbClr val="12294D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063240"/>
            <a:ext cx="2103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Ürün grubu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466344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4663440"/>
            <a:ext cx="21945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>
                <a:solidFill>
                  <a:srgbClr val="12294D"/>
                </a:solidFill>
                <a:latin typeface="Cambria"/>
              </a:rPr>
              <a:t>B2B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4663440"/>
            <a:ext cx="2103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Bayi sistemi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2294D"/>
                </a:solidFill>
                <a:latin typeface="Cambria"/>
              </a:rPr>
              <a:t>5 tasarım bir arada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review-civ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39"/>
            <a:ext cx="329184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6974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294D"/>
                </a:solidFill>
                <a:latin typeface="Calibri"/>
              </a:rPr>
              <a:t>1. Cıvata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Sağlam bağlantı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_preview-pist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463039"/>
            <a:ext cx="329184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26974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294D"/>
                </a:solidFill>
                <a:latin typeface="Calibri"/>
              </a:rPr>
              <a:t>2. Piston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17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Motorun gücü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_preview-ja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463039"/>
            <a:ext cx="329184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760" y="26974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294D"/>
                </a:solidFill>
                <a:latin typeface="Calibri"/>
              </a:rPr>
              <a:t>3. Jant / Lastik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017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Yolda güvenlik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_preview-kalk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77640"/>
            <a:ext cx="3291840" cy="1097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2120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294D"/>
                </a:solidFill>
                <a:latin typeface="Calibri"/>
              </a:rPr>
              <a:t>4. Kalkan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Güvenin adresi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79476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_preview-hi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3977640"/>
            <a:ext cx="3291840" cy="1097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0" y="52120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294D"/>
                </a:solidFill>
                <a:latin typeface="Calibri"/>
              </a:rPr>
              <a:t>5. Hız Çizgileri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5321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Hızlı tedarik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79476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12294D"/>
          </a:solidFill>
          <a:ln w="9525">
            <a:solidFill>
              <a:srgbClr val="1229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4023360"/>
            <a:ext cx="310896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Karşılaştırmayı kolaylaştırmak için beş tasarımda da yazı düzeni ve font aynı tutuldu; fark yalnızca sembolden gelir.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294D"/>
                </a:solidFill>
                <a:latin typeface="Cambria"/>
              </a:rPr>
              <a:t>1. Cıvata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Sağlam bağlantı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0350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preview-civ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5000"/>
            <a:ext cx="5577840" cy="1859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572000"/>
            <a:ext cx="2926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6817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2294D"/>
                </a:solidFill>
                <a:latin typeface="Calibri"/>
              </a:rPr>
              <a:t>Güçlü yön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2560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Sektörü hemen anlatır, tek renkte de çalışır.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572000"/>
            <a:ext cx="2926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46817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3A2F"/>
                </a:solidFill>
                <a:latin typeface="Calibri"/>
              </a:rPr>
              <a:t>Dikkat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983480"/>
            <a:ext cx="2560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Hırdavat çağrışımı yapabilir; ince dişler küçük boyutta kapanır.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3716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ANLAM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T harfi, başı ve dişli gövdesiyle bir cıvata olarak çizildi. Cıvata sağlam bağlantıyı ve yedek parçanın kendisini simgeler. Başın altındaki kırmızı rondela hız ve dikkat vurgusu verir.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2004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RENK PALETİ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566160"/>
            <a:ext cx="365760" cy="292608"/>
          </a:xfrm>
          <a:prstGeom prst="rect">
            <a:avLst/>
          </a:prstGeom>
          <a:solidFill>
            <a:srgbClr val="12294D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35387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Gece Laciverti   #12294D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5387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Ana renk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4023360"/>
            <a:ext cx="365760" cy="292608"/>
          </a:xfrm>
          <a:prstGeom prst="rect">
            <a:avLst/>
          </a:prstGeom>
          <a:solidFill>
            <a:srgbClr val="D93A2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39959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Sinyal Kırmızısı   #D93A2F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9959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Vurgu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4480560"/>
            <a:ext cx="3657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44531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Beyaz   #FFFFFF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4531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Zemin, ters renk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4937760"/>
            <a:ext cx="365760" cy="292608"/>
          </a:xfrm>
          <a:prstGeom prst="rect">
            <a:avLst/>
          </a:prstGeom>
          <a:solidFill>
            <a:srgbClr val="6B728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49103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Yardımcı Gri   #6B7280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9103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İkincil metin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4406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TİPOGRAFİ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76072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Kalın sans-serif (Arial/Helvetica Bold). Logo yazısı 30 pt, harf aralığı +1; alt yazı 12 pt, harf aralığı +5.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294D"/>
                </a:solidFill>
                <a:latin typeface="Cambria"/>
              </a:rPr>
              <a:t>2. Piston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Motorun gücü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0350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preview-pis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5000"/>
            <a:ext cx="5577840" cy="1859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572000"/>
            <a:ext cx="2926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6817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2294D"/>
                </a:solidFill>
                <a:latin typeface="Calibri"/>
              </a:rPr>
              <a:t>Güçlü yön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2560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Otomotive en özgü sembol.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572000"/>
            <a:ext cx="2926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46817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3A2F"/>
                </a:solidFill>
                <a:latin typeface="Calibri"/>
              </a:rPr>
              <a:t>Dikkat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983480"/>
            <a:ext cx="2560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Silüet boya fırçasına benzeyebilir; segman çizgileri küçük boyutta incelir.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3716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ANLAM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Piston başı T'nin çatısı, biyel kolu gövdesi oldu. Motoru, gücü ve mekanik ustalığı çağrıştırır. Turuncu segman bantları enerjiyi ve sıcaklığı temsil eder.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2004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RENK PALETİ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566160"/>
            <a:ext cx="365760" cy="292608"/>
          </a:xfrm>
          <a:prstGeom prst="rect">
            <a:avLst/>
          </a:prstGeom>
          <a:solidFill>
            <a:srgbClr val="1F2933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35387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Antrasit   #1F2933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5387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Ana renk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4023360"/>
            <a:ext cx="365760" cy="292608"/>
          </a:xfrm>
          <a:prstGeom prst="rect">
            <a:avLst/>
          </a:prstGeom>
          <a:solidFill>
            <a:srgbClr val="E8590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39959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Motor Turuncusu   #E8590C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9959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Vurgu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4480560"/>
            <a:ext cx="3657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44531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Beyaz   #FFFFFF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4531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Zemin, ters renk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4937760"/>
            <a:ext cx="365760" cy="292608"/>
          </a:xfrm>
          <a:prstGeom prst="rect">
            <a:avLst/>
          </a:prstGeom>
          <a:solidFill>
            <a:srgbClr val="6B728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49103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Yardımcı Gri   #6B7280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9103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İkincil metin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4406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TİPOGRAFİ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76072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Kalın sans-serif (Arial/Helvetica Bold). Logo yazısı 30 pt, harf aralığı +1; alt yazı 12 pt, harf aralığı +5.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294D"/>
                </a:solidFill>
                <a:latin typeface="Cambria"/>
              </a:rPr>
              <a:t>3. Jant / Lastik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Yolda güvenlik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0350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preview-j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5000"/>
            <a:ext cx="5577840" cy="1859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572000"/>
            <a:ext cx="2926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6817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2294D"/>
                </a:solidFill>
                <a:latin typeface="Calibri"/>
              </a:rPr>
              <a:t>Güçlü yön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2560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Yuvarlak rozet: profil fotoğrafı, favicon ve mühür için ideal.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572000"/>
            <a:ext cx="2926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46817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3A2F"/>
                </a:solidFill>
                <a:latin typeface="Calibri"/>
              </a:rPr>
              <a:t>Dikkat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983480"/>
            <a:ext cx="2560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Sarı beyaz zeminde zayıf kalır; lastik satmayan bir imaj verebilir.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3716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ANLAM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Lastik halkasının içindeki sarı zeminde T harfi durur. Tekerlek yolu ve hareketi, sarı ise görünürlüğü ve güvenliği simgeler. Lastik ürün grubuna da doğrudan gönderme yapar.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2004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RENK PALETİ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566160"/>
            <a:ext cx="365760" cy="292608"/>
          </a:xfrm>
          <a:prstGeom prst="rect">
            <a:avLst/>
          </a:prstGeom>
          <a:solidFill>
            <a:srgbClr val="11182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35387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Asfalt Siyahı   #111827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5387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Ana renk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4023360"/>
            <a:ext cx="365760" cy="292608"/>
          </a:xfrm>
          <a:prstGeom prst="rect">
            <a:avLst/>
          </a:prstGeom>
          <a:solidFill>
            <a:srgbClr val="FACC1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39959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Uyarı Sarısı   #FACC15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9959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Vurgu, rozet zemini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4480560"/>
            <a:ext cx="3657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44531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Beyaz   #FFFFFF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4531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Zemin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4937760"/>
            <a:ext cx="365760" cy="292608"/>
          </a:xfrm>
          <a:prstGeom prst="rect">
            <a:avLst/>
          </a:prstGeom>
          <a:solidFill>
            <a:srgbClr val="6B728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49103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Yardımcı Gri   #6B7280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9103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İkincil metin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4406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TİPOGRAFİ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76072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Kalın sans-serif (Arial/Helvetica Bold). Logo yazısı 30 pt, harf aralığı +1; alt yazı 12 pt, harf aralığı +5.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294D"/>
                </a:solidFill>
                <a:latin typeface="Cambria"/>
              </a:rPr>
              <a:t>4. Kalkan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Güvenin adresi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0350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preview-kal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5000"/>
            <a:ext cx="5577840" cy="1859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572000"/>
            <a:ext cx="2926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6817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2294D"/>
                </a:solidFill>
                <a:latin typeface="Calibri"/>
              </a:rPr>
              <a:t>Güçlü yön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2560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Slogan ve deneyim mesajını taşır, kurumsal durur.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572000"/>
            <a:ext cx="2926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46817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3A2F"/>
                </a:solidFill>
                <a:latin typeface="Calibri"/>
              </a:rPr>
              <a:t>Dikkat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983480"/>
            <a:ext cx="2560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Kalkan sigorta ve güvenlik firmalarında da yaygın; sektör ipucu zayıf.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3716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ANLAM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Kalkan güvenceyi, beyaz T harfi markayı simgeler. Alttaki altın elmas kaliteyi ve köklülüğü (1978'den beri) temsil eder. “Otomotivde Güvenin Adresi” sloganıyla en uyumlu yön.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2004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RENK PALETİ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566160"/>
            <a:ext cx="365760" cy="292608"/>
          </a:xfrm>
          <a:prstGeom prst="rect">
            <a:avLst/>
          </a:prstGeom>
          <a:solidFill>
            <a:srgbClr val="7A1F2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35387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Bordo   #7A1F2B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5387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Ana renk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4023360"/>
            <a:ext cx="365760" cy="292608"/>
          </a:xfrm>
          <a:prstGeom prst="rect">
            <a:avLst/>
          </a:prstGeom>
          <a:solidFill>
            <a:srgbClr val="C9A22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39959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Altın   #C9A227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9959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Vurgu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4480560"/>
            <a:ext cx="3657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44531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Beyaz   #FFFFFF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4531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Zemin, T harfi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4937760"/>
            <a:ext cx="365760" cy="292608"/>
          </a:xfrm>
          <a:prstGeom prst="rect">
            <a:avLst/>
          </a:prstGeom>
          <a:solidFill>
            <a:srgbClr val="1F293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49103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Koyu Gri   #1F2937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9103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Metin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4406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TİPOGRAFİ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76072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Kalın sans-serif (Arial/Helvetica Bold). Logo yazısı 30 pt, harf aralığı +1; alt yazı 12 pt, harf aralığı +5.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294D"/>
                </a:solidFill>
                <a:latin typeface="Cambria"/>
              </a:rPr>
              <a:t>5. Hız Çizgileri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Hızlı tedarik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0350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preview-h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5000"/>
            <a:ext cx="5577840" cy="1859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572000"/>
            <a:ext cx="2926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6817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2294D"/>
                </a:solidFill>
                <a:latin typeface="Calibri"/>
              </a:rPr>
              <a:t>Güçlü yön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2560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Modern ve dinamik; lojistik ve B2B kimliğine uygun.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572000"/>
            <a:ext cx="2926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46817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3A2F"/>
                </a:solidFill>
                <a:latin typeface="Calibri"/>
              </a:rPr>
              <a:t>Dikkat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983480"/>
            <a:ext cx="2560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Sektör bağı en zayıf yön; nakliye firmalarına da uyar.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3716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ANLAM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Öne eğik T harfinin arkasında incelen üç çizgi hareketi gösterir: hızlı tedarik ve zamanında teslimat. Petrol yeşili güven ve sakinliği, amber enerjiyi anlatır.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2004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RENK PALETİ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566160"/>
            <a:ext cx="365760" cy="292608"/>
          </a:xfrm>
          <a:prstGeom prst="rect">
            <a:avLst/>
          </a:prstGeom>
          <a:solidFill>
            <a:srgbClr val="0F766E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35387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Petrol Yeşili   #0F766E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5387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Ana renk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4023360"/>
            <a:ext cx="365760" cy="292608"/>
          </a:xfrm>
          <a:prstGeom prst="rect">
            <a:avLst/>
          </a:prstGeom>
          <a:solidFill>
            <a:srgbClr val="F59E0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39959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Amber   #F59E0B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9959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Vurgu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4480560"/>
            <a:ext cx="3657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44531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Beyaz   #FFFFFF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4531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Zemin, ters renk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4937760"/>
            <a:ext cx="365760" cy="292608"/>
          </a:xfrm>
          <a:prstGeom prst="rect">
            <a:avLst/>
          </a:prstGeom>
          <a:solidFill>
            <a:srgbClr val="134E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4910328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Koyu Petrol   #134E4A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91032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Metin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4406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TİPOGRAFİ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76072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Kalın sans-serif (Arial/Helvetica Bold). Logo yazısı 30 pt, harf aralığı +1; alt yazı 12 pt, harf aralığı +5.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9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74519"/>
            <a:ext cx="10360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Değerlendirme ve Karar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697480"/>
            <a:ext cx="8531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9CA6BB"/>
                </a:solidFill>
                <a:latin typeface="Calibri"/>
              </a:rPr>
              <a:t>Beş logo tasarımından markanıza en uygun olanı seçtikten sonra renk, kurumsal evrak ve dijital uyarlamalar tamamlanacaktır.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95447" y="3977639"/>
            <a:ext cx="3063240" cy="1417320"/>
          </a:xfrm>
          <a:prstGeom prst="roundRect">
            <a:avLst>
              <a:gd name="adj" fmla="val 14000"/>
            </a:avLst>
          </a:prstGeom>
          <a:solidFill>
            <a:srgbClr val="1E3A66"/>
          </a:solidFill>
          <a:ln w="9525">
            <a:solidFill>
              <a:srgbClr val="3B5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4047" y="423367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100">
                <a:solidFill>
                  <a:srgbClr val="8FA8D9"/>
                </a:solidFill>
                <a:latin typeface="Calibri"/>
              </a:rPr>
              <a:t>SONRAKİ ADIM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4047" y="4599431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Logo Tasarımının Seçilmesi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3977639"/>
            <a:ext cx="3063240" cy="1417320"/>
          </a:xfrm>
          <a:prstGeom prst="roundRect">
            <a:avLst>
              <a:gd name="adj" fmla="val 14000"/>
            </a:avLst>
          </a:prstGeom>
          <a:solidFill>
            <a:srgbClr val="1E3A66"/>
          </a:solidFill>
          <a:ln w="9525">
            <a:solidFill>
              <a:srgbClr val="3B5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607" y="423367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100">
                <a:solidFill>
                  <a:srgbClr val="8FA8D9"/>
                </a:solidFill>
                <a:latin typeface="Calibri"/>
              </a:rPr>
              <a:t>TESLİMAT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1607" y="4599431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Vektörel Formatlar (SVG, PDF)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